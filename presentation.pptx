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9" d="100"/>
          <a:sy n="149" d="100"/>
        </p:scale>
        <p:origin x="138" y="150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3539689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651626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11/25/2025</a:t>
            </a:fld>
            <a:endParaRPr lang="en-US"/>
          </a:p>
        </p:txBody>
      </p:sp>
      <p:sp>
        <p:nvSpPr>
          <p:cNvPr id="116953643" name="Slide Image Placeholder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5770797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155100760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0586808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2465929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5881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2042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ED31A00-19F7-21B0-3C06-777551C4586B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F22F9E-8712-CA05-96DF-4B1170FF827D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0DFBA5-99E2-742A-99F7-06414573D788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4A4C34-5632-C300-1A45-4910057D3987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528483-4B58-2213-9CEF-3539208646CC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FB1598-0076-31E4-EA58-3EBAD6B34B3B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8AD1C4-D294-FE79-D14B-977003915288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492043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1207664789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</a:p>
        </p:txBody>
      </p:sp>
      <p:sp>
        <p:nvSpPr>
          <p:cNvPr id="159675343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11/25/2025</a:t>
            </a:fld>
            <a:endParaRPr lang="en-US"/>
          </a:p>
        </p:txBody>
      </p:sp>
      <p:sp>
        <p:nvSpPr>
          <p:cNvPr id="1990164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358549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295542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200363402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145502294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11/25/2025</a:t>
            </a:fld>
            <a:endParaRPr lang="en-US"/>
          </a:p>
        </p:txBody>
      </p:sp>
      <p:sp>
        <p:nvSpPr>
          <p:cNvPr id="174356096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11213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562477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143583771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2652055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11/25/2025</a:t>
            </a:fld>
            <a:endParaRPr lang="en-US"/>
          </a:p>
        </p:txBody>
      </p:sp>
      <p:sp>
        <p:nvSpPr>
          <p:cNvPr id="192889759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6356394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24512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12036889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41032469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9835714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11/25/2025</a:t>
            </a:fld>
            <a:endParaRPr lang="en-US"/>
          </a:p>
        </p:txBody>
      </p:sp>
      <p:sp>
        <p:nvSpPr>
          <p:cNvPr id="206453573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9558152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684367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12283614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4698405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39785192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900574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263802808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11/25/2025</a:t>
            </a:fld>
            <a:endParaRPr lang="en-US"/>
          </a:p>
        </p:txBody>
      </p:sp>
      <p:sp>
        <p:nvSpPr>
          <p:cNvPr id="157229966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5660651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862617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111371905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11/25/2025</a:t>
            </a:fld>
            <a:endParaRPr lang="en-US"/>
          </a:p>
        </p:txBody>
      </p:sp>
      <p:sp>
        <p:nvSpPr>
          <p:cNvPr id="12375079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0906422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53773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11/25/2025</a:t>
            </a:fld>
            <a:endParaRPr lang="en-US"/>
          </a:p>
        </p:txBody>
      </p:sp>
      <p:sp>
        <p:nvSpPr>
          <p:cNvPr id="1183425580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5454734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16189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1738180752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33464422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240383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11/25/2025</a:t>
            </a:fld>
            <a:endParaRPr lang="en-US"/>
          </a:p>
        </p:txBody>
      </p:sp>
      <p:sp>
        <p:nvSpPr>
          <p:cNvPr id="169221098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891029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843557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568865456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</a:p>
        </p:txBody>
      </p:sp>
      <p:sp>
        <p:nvSpPr>
          <p:cNvPr id="130321156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9982868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11/25/2025</a:t>
            </a:fld>
            <a:endParaRPr lang="en-US"/>
          </a:p>
        </p:txBody>
      </p:sp>
      <p:sp>
        <p:nvSpPr>
          <p:cNvPr id="158890375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9685680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498013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158181278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15970064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11/25/2025</a:t>
            </a:fld>
            <a:endParaRPr lang="en-US"/>
          </a:p>
        </p:txBody>
      </p:sp>
      <p:sp>
        <p:nvSpPr>
          <p:cNvPr id="113948836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2356840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27249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3987266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10500406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11/25/2025</a:t>
            </a:fld>
            <a:endParaRPr lang="en-US"/>
          </a:p>
        </p:txBody>
      </p:sp>
      <p:sp>
        <p:nvSpPr>
          <p:cNvPr id="158829006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8262066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185747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</a:p>
        </p:txBody>
      </p:sp>
      <p:sp>
        <p:nvSpPr>
          <p:cNvPr id="157987644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180731394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11/25/2025</a:t>
            </a:fld>
            <a:endParaRPr lang="en-US"/>
          </a:p>
        </p:txBody>
      </p:sp>
      <p:sp>
        <p:nvSpPr>
          <p:cNvPr id="172206437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65336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9876537" name="Picture 2029876536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941010" y="5452185"/>
            <a:ext cx="3991151" cy="1127207"/>
          </a:xfrm>
          <a:prstGeom prst="rect">
            <a:avLst/>
          </a:prstGeom>
        </p:spPr>
      </p:pic>
      <p:sp>
        <p:nvSpPr>
          <p:cNvPr id="1931106305" name="TextBox 1931106304"/>
          <p:cNvSpPr txBox="1"/>
          <p:nvPr/>
        </p:nvSpPr>
        <p:spPr bwMode="auto">
          <a:xfrm>
            <a:off x="440660" y="1495591"/>
            <a:ext cx="10991850" cy="17377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sz="3600" b="1">
                <a:cs typeface="Times New Roman"/>
              </a:rPr>
              <a:t>PRIKUPLJANJE I OBRADA TEMPERATURNIH PODATAKA, TE KOMUNIKACIJA S RAČUNALNIM OBLAKOM</a:t>
            </a:r>
            <a:endParaRPr sz="4800"/>
          </a:p>
        </p:txBody>
      </p:sp>
      <p:sp>
        <p:nvSpPr>
          <p:cNvPr id="1769757381" name="TextBox 1769757380"/>
          <p:cNvSpPr txBox="1"/>
          <p:nvPr/>
        </p:nvSpPr>
        <p:spPr bwMode="auto">
          <a:xfrm>
            <a:off x="2571830" y="3793289"/>
            <a:ext cx="6729511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t>Student: Toni Borozan</a:t>
            </a:r>
          </a:p>
          <a:p>
            <a:pPr algn="ctr">
              <a:defRPr/>
            </a:pPr>
            <a:r>
              <a:t>Mentor: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Ante Projić, mag. ing. comp., pred.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698919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Uvod</a:t>
            </a:r>
          </a:p>
        </p:txBody>
      </p:sp>
      <p:sp>
        <p:nvSpPr>
          <p:cNvPr id="47060533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t>Pra</a:t>
            </a:r>
            <a:r>
              <a:rPr lang="hr-HR"/>
              <a:t>ćenje vanjske temperature u realnom vremenu</a:t>
            </a:r>
          </a:p>
          <a:p>
            <a:pPr>
              <a:defRPr/>
            </a:pPr>
            <a:r>
              <a:rPr lang="hr-HR"/>
              <a:t>Integracija hardvera i cloud tehnologija</a:t>
            </a:r>
          </a:p>
          <a:p>
            <a:pPr>
              <a:defRPr/>
            </a:pPr>
            <a:r>
              <a:rPr lang="hr-HR"/>
              <a:t>Rješavanje ograničenja pristupa podacima</a:t>
            </a:r>
          </a:p>
          <a:p>
            <a:pPr>
              <a:defRPr/>
            </a:pPr>
            <a:r>
              <a:rPr lang="hr-HR"/>
              <a:t>Moderna softverska arhitektura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cxnSp>
        <p:nvCxnSpPr>
          <p:cNvPr id="1658115087" name="Straight Connector 1658115086"/>
          <p:cNvCxnSpPr>
            <a:endCxn id="1061515450" idx="2"/>
          </p:cNvCxnSpPr>
          <p:nvPr/>
        </p:nvCxnSpPr>
        <p:spPr bwMode="auto">
          <a:xfrm rot="16199969">
            <a:off x="5027501" y="3948837"/>
            <a:ext cx="1618970" cy="0"/>
          </a:xfrm>
          <a:prstGeom prst="line">
            <a:avLst/>
          </a:prstGeom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379550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hr-HR"/>
              <a:t>Pregled arhitekture</a:t>
            </a:r>
            <a:endParaRPr/>
          </a:p>
        </p:txBody>
      </p:sp>
      <p:pic>
        <p:nvPicPr>
          <p:cNvPr id="1920423807" name="Ecowitt WS69" title="Ecowitt WS69"/>
          <p:cNvPicPr>
            <a:picLocks noChangeAspect="1"/>
          </p:cNvPicPr>
          <p:nvPr/>
        </p:nvPicPr>
        <p:blipFill rotWithShape="1">
          <a:blip r:embed="rId3"/>
          <a:srcRect l="615" t="26568" r="-615" b="25838"/>
          <a:stretch/>
        </p:blipFill>
        <p:spPr bwMode="auto">
          <a:xfrm>
            <a:off x="1152144" y="1792544"/>
            <a:ext cx="2029968" cy="969264"/>
          </a:xfrm>
          <a:prstGeom prst="rect">
            <a:avLst/>
          </a:prstGeom>
        </p:spPr>
      </p:pic>
      <p:sp>
        <p:nvSpPr>
          <p:cNvPr id="1820592863" name="Arc 1820592862"/>
          <p:cNvSpPr/>
          <p:nvPr/>
        </p:nvSpPr>
        <p:spPr bwMode="auto">
          <a:xfrm rot="8042883">
            <a:off x="1881086" y="2583694"/>
            <a:ext cx="509670" cy="534736"/>
          </a:xfrm>
          <a:prstGeom prst="arc">
            <a:avLst>
              <a:gd name="adj1" fmla="val 16200000"/>
              <a:gd name="adj2" fmla="val 0"/>
            </a:avLst>
          </a:prstGeom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hr-HR"/>
          </a:p>
        </p:txBody>
      </p:sp>
      <p:sp>
        <p:nvSpPr>
          <p:cNvPr id="1248539348" name="Arc 1248539347"/>
          <p:cNvSpPr/>
          <p:nvPr/>
        </p:nvSpPr>
        <p:spPr bwMode="auto">
          <a:xfrm rot="8042883">
            <a:off x="1881086" y="2741549"/>
            <a:ext cx="509670" cy="534735"/>
          </a:xfrm>
          <a:prstGeom prst="arc">
            <a:avLst>
              <a:gd name="adj1" fmla="val 16200000"/>
              <a:gd name="adj2" fmla="val 0"/>
            </a:avLst>
          </a:prstGeom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hr-HR"/>
          </a:p>
        </p:txBody>
      </p:sp>
      <p:sp>
        <p:nvSpPr>
          <p:cNvPr id="2040017966" name="Arc 2040017965"/>
          <p:cNvSpPr/>
          <p:nvPr/>
        </p:nvSpPr>
        <p:spPr bwMode="auto">
          <a:xfrm rot="8042883">
            <a:off x="1881086" y="3161631"/>
            <a:ext cx="509670" cy="534735"/>
          </a:xfrm>
          <a:prstGeom prst="arc">
            <a:avLst>
              <a:gd name="adj1" fmla="val 16200000"/>
              <a:gd name="adj2" fmla="val 0"/>
            </a:avLst>
          </a:prstGeom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hr-HR"/>
          </a:p>
        </p:txBody>
      </p:sp>
      <p:sp>
        <p:nvSpPr>
          <p:cNvPr id="2016257003" name="Arc 2016257002"/>
          <p:cNvSpPr/>
          <p:nvPr/>
        </p:nvSpPr>
        <p:spPr bwMode="auto">
          <a:xfrm rot="8042883">
            <a:off x="1881086" y="3319486"/>
            <a:ext cx="509670" cy="534735"/>
          </a:xfrm>
          <a:prstGeom prst="arc">
            <a:avLst>
              <a:gd name="adj1" fmla="val 16200000"/>
              <a:gd name="adj2" fmla="val 0"/>
            </a:avLst>
          </a:prstGeom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hr-HR"/>
          </a:p>
        </p:txBody>
      </p:sp>
      <p:sp>
        <p:nvSpPr>
          <p:cNvPr id="513643813" name="TextBox 513643812"/>
          <p:cNvSpPr txBox="1"/>
          <p:nvPr/>
        </p:nvSpPr>
        <p:spPr bwMode="auto">
          <a:xfrm>
            <a:off x="1528821" y="3302007"/>
            <a:ext cx="1184572" cy="2594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hr-HR" sz="1100"/>
              <a:t>868 Mhz</a:t>
            </a:r>
            <a:endParaRPr sz="700"/>
          </a:p>
        </p:txBody>
      </p:sp>
      <p:sp>
        <p:nvSpPr>
          <p:cNvPr id="305957938" name="Arc 305957937"/>
          <p:cNvSpPr/>
          <p:nvPr/>
        </p:nvSpPr>
        <p:spPr bwMode="auto">
          <a:xfrm rot="2462561">
            <a:off x="3104976" y="4515676"/>
            <a:ext cx="509670" cy="534735"/>
          </a:xfrm>
          <a:prstGeom prst="arc">
            <a:avLst>
              <a:gd name="adj1" fmla="val 16200000"/>
              <a:gd name="adj2" fmla="val 0"/>
            </a:avLst>
          </a:prstGeom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hr-HR"/>
          </a:p>
        </p:txBody>
      </p:sp>
      <p:sp>
        <p:nvSpPr>
          <p:cNvPr id="1228034760" name="Arc 1228034759"/>
          <p:cNvSpPr/>
          <p:nvPr/>
        </p:nvSpPr>
        <p:spPr bwMode="auto">
          <a:xfrm rot="2462561">
            <a:off x="3290655" y="4515676"/>
            <a:ext cx="509670" cy="534735"/>
          </a:xfrm>
          <a:prstGeom prst="arc">
            <a:avLst>
              <a:gd name="adj1" fmla="val 16200000"/>
              <a:gd name="adj2" fmla="val 0"/>
            </a:avLst>
          </a:prstGeom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hr-HR"/>
          </a:p>
        </p:txBody>
      </p:sp>
      <p:sp>
        <p:nvSpPr>
          <p:cNvPr id="2039900617" name="Arc 2039900616"/>
          <p:cNvSpPr/>
          <p:nvPr/>
        </p:nvSpPr>
        <p:spPr bwMode="auto">
          <a:xfrm rot="2462561">
            <a:off x="4059459" y="4515676"/>
            <a:ext cx="509670" cy="534735"/>
          </a:xfrm>
          <a:prstGeom prst="arc">
            <a:avLst>
              <a:gd name="adj1" fmla="val 16200000"/>
              <a:gd name="adj2" fmla="val 0"/>
            </a:avLst>
          </a:prstGeom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hr-HR"/>
          </a:p>
        </p:txBody>
      </p:sp>
      <p:sp>
        <p:nvSpPr>
          <p:cNvPr id="750929534" name="Arc 750929533"/>
          <p:cNvSpPr/>
          <p:nvPr/>
        </p:nvSpPr>
        <p:spPr bwMode="auto">
          <a:xfrm rot="2462561">
            <a:off x="4245138" y="4515676"/>
            <a:ext cx="509670" cy="534735"/>
          </a:xfrm>
          <a:prstGeom prst="arc">
            <a:avLst>
              <a:gd name="adj1" fmla="val 16200000"/>
              <a:gd name="adj2" fmla="val 0"/>
            </a:avLst>
          </a:prstGeom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hr-HR"/>
          </a:p>
        </p:txBody>
      </p:sp>
      <p:sp>
        <p:nvSpPr>
          <p:cNvPr id="1411184933" name="TextBox 1411184932"/>
          <p:cNvSpPr txBox="1"/>
          <p:nvPr/>
        </p:nvSpPr>
        <p:spPr bwMode="auto">
          <a:xfrm>
            <a:off x="3316313" y="4535183"/>
            <a:ext cx="1631796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sz="1100"/>
              <a:t>Wi-Fi</a:t>
            </a:r>
          </a:p>
          <a:p>
            <a:pPr algn="ctr">
              <a:defRPr/>
            </a:pPr>
            <a:r>
              <a:rPr sz="1100"/>
              <a:t>2.4 GHz</a:t>
            </a:r>
            <a:endParaRPr/>
          </a:p>
        </p:txBody>
      </p:sp>
      <p:pic>
        <p:nvPicPr>
          <p:cNvPr id="2011252573" name="Picture 2011252572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153158" y="4280274"/>
            <a:ext cx="1367655" cy="936897"/>
          </a:xfrm>
          <a:prstGeom prst="rect">
            <a:avLst/>
          </a:prstGeom>
        </p:spPr>
      </p:pic>
      <p:sp>
        <p:nvSpPr>
          <p:cNvPr id="1097371131" name="TextBox 1097371130"/>
          <p:cNvSpPr txBox="1"/>
          <p:nvPr/>
        </p:nvSpPr>
        <p:spPr bwMode="auto">
          <a:xfrm>
            <a:off x="1656850" y="2739310"/>
            <a:ext cx="928154" cy="2289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sz="900"/>
              <a:t>Ecowitt WS69</a:t>
            </a:r>
          </a:p>
        </p:txBody>
      </p:sp>
      <p:sp>
        <p:nvSpPr>
          <p:cNvPr id="1632385998" name="TextBox 1632385997"/>
          <p:cNvSpPr txBox="1"/>
          <p:nvPr/>
        </p:nvSpPr>
        <p:spPr bwMode="auto">
          <a:xfrm>
            <a:off x="1540520" y="5266309"/>
            <a:ext cx="1253214" cy="2289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sz="900"/>
              <a:t>Ecowitt WS3900</a:t>
            </a:r>
          </a:p>
        </p:txBody>
      </p:sp>
      <p:sp>
        <p:nvSpPr>
          <p:cNvPr id="1126832089" name="TextBox 1126832088"/>
          <p:cNvSpPr txBox="1"/>
          <p:nvPr/>
        </p:nvSpPr>
        <p:spPr bwMode="auto">
          <a:xfrm>
            <a:off x="5452643" y="5217172"/>
            <a:ext cx="841166" cy="2289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sz="900"/>
              <a:t>Usmjernik</a:t>
            </a:r>
          </a:p>
        </p:txBody>
      </p:sp>
      <p:sp>
        <p:nvSpPr>
          <p:cNvPr id="1061515450" name="TextBox 1061515449"/>
          <p:cNvSpPr txBox="1"/>
          <p:nvPr/>
        </p:nvSpPr>
        <p:spPr bwMode="auto">
          <a:xfrm>
            <a:off x="5369669" y="2773231"/>
            <a:ext cx="93463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sz="900"/>
              <a:t>Ra</a:t>
            </a:r>
            <a:r>
              <a:rPr lang="hr-HR" sz="900"/>
              <a:t>čunalni oblak</a:t>
            </a:r>
            <a:endParaRPr sz="900"/>
          </a:p>
        </p:txBody>
      </p:sp>
      <p:pic>
        <p:nvPicPr>
          <p:cNvPr id="112371734" name="Picture 112371733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5238519" y="1678709"/>
            <a:ext cx="1196934" cy="1196934"/>
          </a:xfrm>
          <a:prstGeom prst="rect">
            <a:avLst/>
          </a:prstGeom>
        </p:spPr>
      </p:pic>
      <p:pic>
        <p:nvPicPr>
          <p:cNvPr id="1889730350" name="Picture 1889730349"/>
          <p:cNvPicPr>
            <a:picLocks noChangeAspect="1"/>
          </p:cNvPicPr>
          <p:nvPr/>
        </p:nvPicPr>
        <p:blipFill rotWithShape="1">
          <a:blip r:embed="rId6"/>
          <a:srcRect l="15945" r="16920" b="31764"/>
          <a:stretch/>
        </p:blipFill>
        <p:spPr bwMode="auto">
          <a:xfrm>
            <a:off x="7322035" y="1847221"/>
            <a:ext cx="3769178" cy="2154949"/>
          </a:xfrm>
          <a:prstGeom prst="rect">
            <a:avLst/>
          </a:prstGeom>
        </p:spPr>
      </p:pic>
      <p:pic>
        <p:nvPicPr>
          <p:cNvPr id="1255387357" name="Picture 1255387356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8519680" y="2597840"/>
            <a:ext cx="287329" cy="282938"/>
          </a:xfrm>
          <a:prstGeom prst="rect">
            <a:avLst/>
          </a:prstGeom>
        </p:spPr>
      </p:pic>
      <p:pic>
        <p:nvPicPr>
          <p:cNvPr id="2024559048" name="Picture 2024559047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8841600" y="2595599"/>
            <a:ext cx="288000" cy="288000"/>
          </a:xfrm>
          <a:prstGeom prst="rect">
            <a:avLst/>
          </a:prstGeom>
        </p:spPr>
      </p:pic>
      <p:pic>
        <p:nvPicPr>
          <p:cNvPr id="1433377742" name="Picture 1433377741"/>
          <p:cNvPicPr/>
          <p:nvPr/>
        </p:nvPicPr>
        <p:blipFill rotWithShape="1">
          <a:blip r:embed="rId9"/>
          <a:stretch/>
        </p:blipFill>
        <p:spPr bwMode="auto">
          <a:xfrm>
            <a:off x="9169200" y="2599200"/>
            <a:ext cx="288000" cy="288000"/>
          </a:xfrm>
          <a:prstGeom prst="rect">
            <a:avLst/>
          </a:prstGeom>
        </p:spPr>
      </p:pic>
      <p:pic>
        <p:nvPicPr>
          <p:cNvPr id="3" name="Picture 2" descr="A digital display with numbers and symbols&#10;&#10;AI-generated content may be incorrect.">
            <a:extLst>
              <a:ext uri="{FF2B5EF4-FFF2-40B4-BE49-F238E27FC236}">
                <a16:creationId xmlns:a16="http://schemas.microsoft.com/office/drawing/2014/main" id="{6775C934-B48A-B809-86A5-A420ACEDDD04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706" y="4195189"/>
            <a:ext cx="1602332" cy="110539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04238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7371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05928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18205928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8539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2485393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600"/>
                            </p:stCondLst>
                            <p:childTnLst>
                              <p:par>
                                <p:cTn id="1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36438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5136438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900"/>
                            </p:stCondLst>
                            <p:childTnLst>
                              <p:par>
                                <p:cTn id="2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00179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20400179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2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62570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20162570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00"/>
                            </p:stCondLst>
                            <p:childTnLst>
                              <p:par>
                                <p:cTn id="3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2385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323859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9579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3059579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300"/>
                            </p:stCondLst>
                            <p:childTnLst>
                              <p:par>
                                <p:cTn id="4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80347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2280347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600"/>
                            </p:stCondLst>
                            <p:childTnLst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11849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4111849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900"/>
                            </p:stCondLst>
                            <p:childTnLst>
                              <p:par>
                                <p:cTn id="5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9900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20399006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1200"/>
                            </p:stCondLst>
                            <p:childTnLst>
                              <p:par>
                                <p:cTn id="5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09295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7509295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1252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0112525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8320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11268320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1800"/>
                            </p:stCondLst>
                            <p:childTnLst>
                              <p:par>
                                <p:cTn id="6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81150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16581150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2300"/>
                            </p:stCondLst>
                            <p:childTnLst>
                              <p:par>
                                <p:cTn id="7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15154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10615154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3717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123717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0" presetClass="entr" presetSubtype="0" fill="hold" nodeType="click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9" dur="2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9730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000"/>
                                        <p:tgtEl>
                                          <p:spTgt spid="18897303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68 -0.089 L -0.13 -0.089 C -0.069 -0.089 0 -0.062 0 -0.039 L 0 0" pathEditMode="relative" ptsTypes="">
                                      <p:cBhvr>
                                        <p:cTn id="82" dur="2000" fill="hold"/>
                                        <p:tgtEl>
                                          <p:spTgt spid="18897303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2000"/>
                            </p:stCondLst>
                            <p:childTnLst>
                              <p:par>
                                <p:cTn id="84" presetID="10" presetClass="entr" presetSubtype="0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5387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12553873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3500"/>
                            </p:stCondLst>
                            <p:childTnLst>
                              <p:par>
                                <p:cTn id="8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45590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20245590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4000"/>
                            </p:stCondLst>
                            <p:childTnLst>
                              <p:par>
                                <p:cTn id="9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377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14333777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29645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hr-HR"/>
              <a:t>Meteorološka postaja</a:t>
            </a:r>
            <a:endParaRPr/>
          </a:p>
        </p:txBody>
      </p:sp>
      <p:pic>
        <p:nvPicPr>
          <p:cNvPr id="377481075" name="Picture 377481074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239252" y="1426869"/>
            <a:ext cx="4067194" cy="3043195"/>
          </a:xfrm>
          <a:prstGeom prst="rect">
            <a:avLst/>
          </a:prstGeom>
        </p:spPr>
      </p:pic>
      <p:pic>
        <p:nvPicPr>
          <p:cNvPr id="588357006" name="Picture 588357005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183497" y="1452875"/>
            <a:ext cx="4819381" cy="2991184"/>
          </a:xfrm>
          <a:prstGeom prst="rect">
            <a:avLst/>
          </a:prstGeom>
        </p:spPr>
      </p:pic>
      <p:sp>
        <p:nvSpPr>
          <p:cNvPr id="1737479546" name="TextBox 1737479545"/>
          <p:cNvSpPr txBox="1"/>
          <p:nvPr/>
        </p:nvSpPr>
        <p:spPr bwMode="auto">
          <a:xfrm>
            <a:off x="838199" y="4787565"/>
            <a:ext cx="1554798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hr-HR"/>
              <a:t>Ecowitt.net</a:t>
            </a:r>
            <a:endParaRPr/>
          </a:p>
        </p:txBody>
      </p:sp>
      <p:sp>
        <p:nvSpPr>
          <p:cNvPr id="2130215284" name="TextBox 2130215283"/>
          <p:cNvSpPr txBox="1"/>
          <p:nvPr/>
        </p:nvSpPr>
        <p:spPr bwMode="auto">
          <a:xfrm>
            <a:off x="4746644" y="4787565"/>
            <a:ext cx="198487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hr-HR"/>
              <a:t>Wunderground</a:t>
            </a:r>
            <a:endParaRPr/>
          </a:p>
        </p:txBody>
      </p:sp>
      <p:sp>
        <p:nvSpPr>
          <p:cNvPr id="733163621" name="TextBox 733163620"/>
          <p:cNvSpPr txBox="1"/>
          <p:nvPr/>
        </p:nvSpPr>
        <p:spPr bwMode="auto">
          <a:xfrm>
            <a:off x="8924276" y="4787565"/>
            <a:ext cx="216869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r">
              <a:defRPr/>
            </a:pPr>
            <a:r>
              <a:rPr lang="hr-HR"/>
              <a:t>Weathercloud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7479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0215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3163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3147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hr-HR"/>
              <a:t>Računalni oblak</a:t>
            </a:r>
            <a:endParaRPr/>
          </a:p>
        </p:txBody>
      </p:sp>
      <p:sp>
        <p:nvSpPr>
          <p:cNvPr id="21170164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hr-HR"/>
              <a:t>Docker</a:t>
            </a:r>
          </a:p>
          <a:p>
            <a:pPr>
              <a:defRPr/>
            </a:pPr>
            <a:r>
              <a:rPr lang="hr-HR"/>
              <a:t>.NET Web API</a:t>
            </a:r>
          </a:p>
          <a:p>
            <a:pPr>
              <a:defRPr/>
            </a:pPr>
            <a:r>
              <a:rPr lang="hr-HR"/>
              <a:t>PosgreSQL</a:t>
            </a:r>
          </a:p>
          <a:p>
            <a:pPr>
              <a:defRPr/>
            </a:pPr>
            <a:r>
              <a:rPr lang="hr-HR"/>
              <a:t>Grafana</a:t>
            </a:r>
          </a:p>
          <a:p>
            <a:pPr>
              <a:defRPr/>
            </a:pPr>
            <a:endParaRPr/>
          </a:p>
        </p:txBody>
      </p:sp>
      <p:pic>
        <p:nvPicPr>
          <p:cNvPr id="1881280182" name="Picture 1881280181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601512" y="2186934"/>
            <a:ext cx="3939152" cy="682596"/>
          </a:xfrm>
          <a:prstGeom prst="rect">
            <a:avLst/>
          </a:prstGeom>
        </p:spPr>
      </p:pic>
      <p:pic>
        <p:nvPicPr>
          <p:cNvPr id="1922842263" name="Picture 1922842262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601512" y="3525169"/>
            <a:ext cx="3645718" cy="26517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7146933" name="Title 1"/>
          <p:cNvSpPr>
            <a:spLocks noGrp="1"/>
          </p:cNvSpPr>
          <p:nvPr>
            <p:ph type="title"/>
          </p:nvPr>
        </p:nvSpPr>
        <p:spPr bwMode="auto">
          <a:xfrm>
            <a:off x="831849" y="1709737"/>
            <a:ext cx="10515600" cy="2852736"/>
          </a:xfrm>
        </p:spPr>
        <p:txBody>
          <a:bodyPr/>
          <a:lstStyle>
            <a:lvl1pPr>
              <a:defRPr sz="6000"/>
            </a:lvl1pPr>
          </a:lstStyle>
          <a:p>
            <a:pPr>
              <a:defRPr/>
            </a:pPr>
            <a:r>
              <a:rPr lang="hr-HR"/>
              <a:t>DEMO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41356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hr-HR"/>
              <a:t>Zaključak</a:t>
            </a:r>
            <a:endParaRPr/>
          </a:p>
        </p:txBody>
      </p:sp>
      <p:sp>
        <p:nvSpPr>
          <p:cNvPr id="93756819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hr-HR"/>
              <a:t>Robusna integracija hardvera i softvera</a:t>
            </a:r>
          </a:p>
          <a:p>
            <a:pPr>
              <a:defRPr/>
            </a:pPr>
            <a:r>
              <a:rPr lang="hr-HR"/>
              <a:t>Nadzor okoline u realnom vremenu</a:t>
            </a:r>
          </a:p>
          <a:p>
            <a:pPr>
              <a:defRPr/>
            </a:pPr>
            <a:r>
              <a:rPr lang="hr-HR"/>
              <a:t>Skalabilna i održavana arhitektura</a:t>
            </a:r>
          </a:p>
          <a:p>
            <a:pPr>
              <a:defRPr/>
            </a:pPr>
            <a:r>
              <a:rPr lang="hr-HR"/>
              <a:t>Automatska konfiguracija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6506635" name="Title 1"/>
          <p:cNvSpPr>
            <a:spLocks noGrp="1"/>
          </p:cNvSpPr>
          <p:nvPr>
            <p:ph type="ctrTitle"/>
          </p:nvPr>
        </p:nvSpPr>
        <p:spPr bwMode="auto">
          <a:xfrm>
            <a:off x="1523999" y="1122363"/>
            <a:ext cx="9144000" cy="2387599"/>
          </a:xfrm>
        </p:spPr>
        <p:txBody>
          <a:bodyPr/>
          <a:lstStyle>
            <a:lvl1pPr algn="ctr">
              <a:defRPr sz="6000"/>
            </a:lvl1pPr>
          </a:lstStyle>
          <a:p>
            <a:pPr>
              <a:defRPr/>
            </a:pPr>
            <a:r>
              <a:rPr lang="hr-HR"/>
              <a:t>Hvala!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</TotalTime>
  <Words>107</Words>
  <Application>Microsoft Office PowerPoint</Application>
  <PresentationFormat>Widescreen</PresentationFormat>
  <Paragraphs>40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Times New Roman</vt:lpstr>
      <vt:lpstr>Office Theme</vt:lpstr>
      <vt:lpstr>PowerPoint Presentation</vt:lpstr>
      <vt:lpstr>Uvod</vt:lpstr>
      <vt:lpstr>Pregled arhitekture</vt:lpstr>
      <vt:lpstr>Meteorološka postaja</vt:lpstr>
      <vt:lpstr>Računalni oblak</vt:lpstr>
      <vt:lpstr>DEMO</vt:lpstr>
      <vt:lpstr>Zaključak</vt:lpstr>
      <vt:lpstr>Hvala!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Toni Borozan</cp:lastModifiedBy>
  <cp:revision>7</cp:revision>
  <dcterms:modified xsi:type="dcterms:W3CDTF">2025-11-25T11:50:42Z</dcterms:modified>
</cp:coreProperties>
</file>